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81a737e1045f0" /><Relationship Type="http://schemas.openxmlformats.org/officeDocument/2006/relationships/extended-properties" Target="/docProps/app.xml" Id="Rab65fa8e278f4aa5" /><Relationship Type="http://schemas.openxmlformats.org/officeDocument/2006/relationships/officeDocument" Target="/ppt/presentation.xml" Id="R83b1f4b1c73e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00ccdfbaaf4e9d"/>
  </p:sldMasterIdLst>
  <p:notesMasterIdLst>
    <p:notesMasterId xmlns:r="http://schemas.openxmlformats.org/officeDocument/2006/relationships" r:id="R6c0e7cce07994dd8"/>
  </p:notesMasterIdLst>
  <p:sldIdLst>
    <p:sldId xmlns:r="http://schemas.openxmlformats.org/officeDocument/2006/relationships" id="256" r:id="R65450fbacc09449d"/>
    <p:sldId xmlns:r="http://schemas.openxmlformats.org/officeDocument/2006/relationships" id="257" r:id="R455cb14786dd4f74"/>
    <p:sldId xmlns:r="http://schemas.openxmlformats.org/officeDocument/2006/relationships" id="258" r:id="R984fa34c54994a65"/>
    <p:sldId xmlns:r="http://schemas.openxmlformats.org/officeDocument/2006/relationships" id="259" r:id="R3a19fe8f53054b71"/>
    <p:sldId xmlns:r="http://schemas.openxmlformats.org/officeDocument/2006/relationships" id="260" r:id="Re66ed0e8c54c48bf"/>
    <p:sldId xmlns:r="http://schemas.openxmlformats.org/officeDocument/2006/relationships" id="261" r:id="R31c6041968994860"/>
    <p:sldId xmlns:r="http://schemas.openxmlformats.org/officeDocument/2006/relationships" id="262" r:id="Rbbfde9a5f5e54183"/>
    <p:sldId xmlns:r="http://schemas.openxmlformats.org/officeDocument/2006/relationships" id="263" r:id="R9f86b08340ad49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1c839639a4ba5" /><Relationship Type="http://schemas.openxmlformats.org/officeDocument/2006/relationships/slideMaster" Target="/ppt/slideMasters/slideMaster1.xml" Id="R8800ccdfbaaf4e9d" /><Relationship Type="http://schemas.openxmlformats.org/officeDocument/2006/relationships/notesMaster" Target="/ppt/notesMasters/notesMaster1.xml" Id="R6c0e7cce07994dd8" /><Relationship Type="http://schemas.openxmlformats.org/officeDocument/2006/relationships/presProps" Target="/ppt/presProps.xml" Id="R22a1f25b5db741f4" /><Relationship Type="http://schemas.openxmlformats.org/officeDocument/2006/relationships/tableStyles" Target="/ppt/tableStyles.xml" Id="R6e4676039522445f" /><Relationship Type="http://schemas.openxmlformats.org/officeDocument/2006/relationships/slide" Target="/ppt/slides/slide1.xml" Id="R65450fbacc09449d" /><Relationship Type="http://schemas.openxmlformats.org/officeDocument/2006/relationships/slide" Target="/ppt/slides/slide2.xml" Id="R455cb14786dd4f74" /><Relationship Type="http://schemas.openxmlformats.org/officeDocument/2006/relationships/slide" Target="/ppt/slides/slide3.xml" Id="R984fa34c54994a65" /><Relationship Type="http://schemas.openxmlformats.org/officeDocument/2006/relationships/slide" Target="/ppt/slides/slide4.xml" Id="R3a19fe8f53054b71" /><Relationship Type="http://schemas.openxmlformats.org/officeDocument/2006/relationships/slide" Target="/ppt/slides/slide5.xml" Id="Re66ed0e8c54c48bf" /><Relationship Type="http://schemas.openxmlformats.org/officeDocument/2006/relationships/slide" Target="/ppt/slides/slide6.xml" Id="R31c6041968994860" /><Relationship Type="http://schemas.openxmlformats.org/officeDocument/2006/relationships/slide" Target="/ppt/slides/slide7.xml" Id="Rbbfde9a5f5e54183" /><Relationship Type="http://schemas.openxmlformats.org/officeDocument/2006/relationships/slide" Target="/ppt/slides/slide8.xml" Id="R9f86b08340ad49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04e535abf941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240fe87b41476a" /><Relationship Type="http://schemas.openxmlformats.org/officeDocument/2006/relationships/notesMaster" Target="/ppt/notesMasters/notesMaster1.xml" Id="R7c6e2dcf6779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b33065d2d4d6b" /><Relationship Type="http://schemas.openxmlformats.org/officeDocument/2006/relationships/notesMaster" Target="/ppt/notesMasters/notesMaster1.xml" Id="R9536fce70c14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1e37feed247ff" /><Relationship Type="http://schemas.openxmlformats.org/officeDocument/2006/relationships/notesMaster" Target="/ppt/notesMasters/notesMaster1.xml" Id="R5b324e78f43f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1baef7b2a4503" /><Relationship Type="http://schemas.openxmlformats.org/officeDocument/2006/relationships/notesMaster" Target="/ppt/notesMasters/notesMaster1.xml" Id="Re23553262f8d4b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cffa7057548fd" /><Relationship Type="http://schemas.openxmlformats.org/officeDocument/2006/relationships/notesMaster" Target="/ppt/notesMasters/notesMaster1.xml" Id="R9766e404877741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2d8d116e4b4a32" /><Relationship Type="http://schemas.openxmlformats.org/officeDocument/2006/relationships/notesMaster" Target="/ppt/notesMasters/notesMaster1.xml" Id="R4e722100494d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382139fa145cd" /><Relationship Type="http://schemas.openxmlformats.org/officeDocument/2006/relationships/notesMaster" Target="/ppt/notesMasters/notesMaster1.xml" Id="R963aef2f4a3a4b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6e0e03a1614e3a" /><Relationship Type="http://schemas.openxmlformats.org/officeDocument/2006/relationships/notesMaster" Target="/ppt/notesMasters/notesMaster1.xml" Id="Rd5310284c416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docs/testing/2026-09-07/summary.json</a:t>
            </a:r>
          </a:p>
          <a:p xmlns:a="http://schemas.openxmlformats.org/drawingml/2006/main">
            <a:r>
              <a:t>Источник доказательства: docs/testing/2026-09-07/README.md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docs/testing/2026-09-07/summary.json</a:t>
            </a:r>
          </a:p>
          <a:p xmlns:a="http://schemas.openxmlformats.org/drawingml/2006/main">
            <a:r>
              <a:t>Источник доказательства: docs/testing/2026-09-07/server-probe.txt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*/target/surefire-reports/TEST-*.xml</a:t>
            </a:r>
          </a:p>
          <a:p xmlns:a="http://schemas.openxmlformats.org/drawingml/2006/main">
            <a:r>
              <a:t>Источник доказательства: */target/site/jacoco/jacoco.csv</a:t>
            </a:r>
          </a:p>
          <a:p xmlns:a="http://schemas.openxmlformats.org/drawingml/2006/main">
            <a:r>
              <a:t>Источник доказательства: docs/testing/2026-09-07/summary.json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docs/testing/2026-09-07/integration-results.json</a:t>
            </a:r>
          </a:p>
          <a:p xmlns:a="http://schemas.openxmlformats.org/drawingml/2006/main">
            <a:r>
              <a:t>Источник доказательства: docs/testing/2026-09-07/server-probe.txt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docs/testing/2026-09-07/load-edge-c1.json</a:t>
            </a:r>
          </a:p>
          <a:p xmlns:a="http://schemas.openxmlformats.org/drawingml/2006/main">
            <a:r>
              <a:t>Источник доказательства: load-edge-c5.json</a:t>
            </a:r>
          </a:p>
          <a:p xmlns:a="http://schemas.openxmlformats.org/drawingml/2006/main">
            <a:r>
              <a:t>Источник доказательства: load-edge-c10.json</a:t>
            </a:r>
          </a:p>
          <a:p xmlns:a="http://schemas.openxmlformats.org/drawingml/2006/main">
            <a:r>
              <a:t>Источник доказательства: load-edge-c20.json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docs/testing/2026-09-07/database-load/*.txt</a:t>
            </a:r>
          </a:p>
          <a:p xmlns:a="http://schemas.openxmlformats.org/drawingml/2006/main">
            <a:r>
              <a:t>Источник доказательства: docs/testing/2026-09-07/performance-summary.csv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docs/testing/2026-09-07/llm-smoke.json</a:t>
            </a:r>
          </a:p>
          <a:p xmlns:a="http://schemas.openxmlformats.org/drawingml/2006/main">
            <a:r>
              <a:t>Источник доказательства: docs/testing/2026-09-07/server-probe.txt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Комментарий докладчика:</a:t>
            </a:r>
          </a:p>
          <a:p xmlns:a="http://schemas.openxmlformats.org/drawingml/2006/main">
            <a:r>
              <a:t>Источник доказательства: docs/testing/2026-09-07/report.html</a:t>
            </a:r>
          </a:p>
          <a:p xmlns:a="http://schemas.openxmlformats.org/drawingml/2006/main">
            <a:r>
              <a:t>Источник доказательства: docs/testing/2026-09-07/README.md</a:t>
            </a:r>
          </a:p>
          <a:p xmlns:a="http://schemas.openxmlformats.org/drawingml/2006/main">
            <a:r>
              <a:t>Источник доказательства: docs/testing/2026-09-07/raw/</a:t>
            </a:r>
          </a:p>
          <a:p xmlns:a="http://schemas.openxmlformats.org/drawingml/2006/main">
            <a:r>
              <a:t>Все числовые значения перенесены из воспроизводимых файлов отчёта без округления, кроме явно подписанных сводных показателей.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3049f4c3d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4b225d9894cf3" /><Relationship Type="http://schemas.openxmlformats.org/officeDocument/2006/relationships/slideLayout" Target="/ppt/slideLayouts/slideLayout1.xml" Id="Rdb117cb1303f44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17cb1303f44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573dbf8fd41cb" /><Relationship Type="http://schemas.openxmlformats.org/officeDocument/2006/relationships/image" Target="/ppt/media/image.png" Id="Rba04a8f7c0c24eab" /><Relationship Type="http://schemas.openxmlformats.org/officeDocument/2006/relationships/notesSlide" Target="/ppt/notesSlides/notesSlide1.xml" Id="Rc9b07038155d4f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684555568470e" /><Relationship Type="http://schemas.openxmlformats.org/officeDocument/2006/relationships/image" Target="/ppt/media/image2.png" Id="R3c5f064cde884d89" /><Relationship Type="http://schemas.openxmlformats.org/officeDocument/2006/relationships/notesSlide" Target="/ppt/notesSlides/notesSlide2.xml" Id="Re564dc6f31a2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14bb7e1d74195" /><Relationship Type="http://schemas.openxmlformats.org/officeDocument/2006/relationships/image" Target="/ppt/media/image3.png" Id="R7a7ca35e1201440d" /><Relationship Type="http://schemas.openxmlformats.org/officeDocument/2006/relationships/notesSlide" Target="/ppt/notesSlides/notesSlide3.xml" Id="Rbdb14eef04e2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74e1a0f5b42a3" /><Relationship Type="http://schemas.openxmlformats.org/officeDocument/2006/relationships/image" Target="/ppt/media/image4.png" Id="R1ed3d7ecc4c842b5" /><Relationship Type="http://schemas.openxmlformats.org/officeDocument/2006/relationships/notesSlide" Target="/ppt/notesSlides/notesSlide4.xml" Id="R021be5cac0f4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8891811a448a8" /><Relationship Type="http://schemas.openxmlformats.org/officeDocument/2006/relationships/image" Target="/ppt/media/image5.png" Id="Rdda992b555b2487d" /><Relationship Type="http://schemas.openxmlformats.org/officeDocument/2006/relationships/notesSlide" Target="/ppt/notesSlides/notesSlide5.xml" Id="Rcbde5f2b9a8445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782c6cb2f4c35" /><Relationship Type="http://schemas.openxmlformats.org/officeDocument/2006/relationships/image" Target="/ppt/media/image6.png" Id="Rf919dc3820874fd3" /><Relationship Type="http://schemas.openxmlformats.org/officeDocument/2006/relationships/notesSlide" Target="/ppt/notesSlides/notesSlide6.xml" Id="R67739c168b3149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6289aa3d14d2d" /><Relationship Type="http://schemas.openxmlformats.org/officeDocument/2006/relationships/image" Target="/ppt/media/image7.png" Id="R65c7e71fc76646c2" /><Relationship Type="http://schemas.openxmlformats.org/officeDocument/2006/relationships/notesSlide" Target="/ppt/notesSlides/notesSlide7.xml" Id="Rdda9647c92d74b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21c0615684908" /><Relationship Type="http://schemas.openxmlformats.org/officeDocument/2006/relationships/image" Target="/ppt/media/image8.png" Id="Rcab456da3ab34627" /><Relationship Type="http://schemas.openxmlformats.org/officeDocument/2006/relationships/notesSlide" Target="/ppt/notesSlides/notesSlide8.xml" Id="Rb3562071dcc646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0E0AF-48F1-4279-86F1-818EC30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32037-5360-481C-8FCC-7716936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29025"/>
            <a:ext cx="27622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F3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2D8F1-77B8-47EB-A84C-2A6201DD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38575"/>
            <a:ext cx="27622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87E9E-BAC7-483A-B98A-E292F1E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48125"/>
            <a:ext cx="2762250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F3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B42DD-59C5-48D8-9F11-1B9C617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57675"/>
            <a:ext cx="2762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DD7C6-8ED7-4806-8197-EB028B9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67225"/>
            <a:ext cx="276225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F3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6830D-2E9C-46B4-A824-F2EA121D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76775"/>
            <a:ext cx="2762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E3697-4231-4A51-A622-8B1D6E5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86325"/>
            <a:ext cx="276225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F3B2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4a8f7c0c24eab"/>
          <a:stretch xmlns:a="http://schemas.openxmlformats.org/drawingml/2006/main"/>
        </p:blipFill>
        <p:spPr>
          <a:xfrm xmlns:a="http://schemas.openxmlformats.org/drawingml/2006/main">
            <a:off x="786879" y="514350"/>
            <a:ext cx="1855243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4B209-3BAF-4BA8-8BAF-03F10EDE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81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ДОКАЗАТЕЛЬНЫЙ ОТЧЁТ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DB04E-5FCD-4B73-9755-F1836807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90625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Комплексное</a:t>
            </a:r>
          </a:p>
          <a:p xmlns:a="http://schemas.openxmlformats.org/drawingml/2006/main">
            <a:pPr algn="l">
              <a:defRPr sz="36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тестирование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865BD-16D9-48B2-A349-07230F5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Научная поисковая система с применением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2B2B1-7E79-4E92-BCFD-9AB6FCD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FBA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DDA46-42C6-4F97-A1EC-6D1D85C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223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E7EF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B3232-6F87-4FCD-A4F3-BB07575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92/92 модульных теста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6ACEF-65CF-431C-A48D-1458D87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762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F5F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A8AF4-F9D5-46D3-A9B3-B5BED5A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9/9 интеграций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3F437-4387-471B-8C95-6D3FA4B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2076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E7EF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7EF03-D507-4E40-BAF3-8CC4A1B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0 ошибок нагрузки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FBA9F-5BE9-46F2-B749-B99A1B91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6362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75A9D-6DD2-4C3B-B7C7-913C34C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57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Вердикт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A6881-7D32-4997-ADDA-1647E19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434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Условно готово к пилотной эксплуатации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4733F-F63F-49A7-B6CB-E9F2F90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006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https://search.5-42-117-227.sslip.io/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A8D9D-8C03-445A-A8AA-13687AB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62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 сентября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17AD5-1F04-44C4-AA7E-7263F9AB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626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Солопенко Виктория Владимировна</a:t>
            </a:r>
          </a:p>
        </p:txBody>
      </p:sp>
    </p:spTree>
    <p:extLst>
      <p:ext uri="{BB962C8B-B14F-4D97-AF65-F5344CB8AC3E}">
        <p14:creationId xmlns:p14="http://schemas.microsoft.com/office/powerpoint/2010/main" val="2108697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4139AD-8BBA-4B35-9539-A0DD4CBF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МЕТОДИКА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C059E-0589-44A3-98ED-CFF98D7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Три уровня проверки системы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064cde884d89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D558-28CB-459E-88B2-2C38F2E1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EB9D8-BA0D-48EC-BD45-453DD49C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17DD4-87C2-474B-ABC4-6644B50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7334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A7AAC-AA4D-4817-AE64-1622DE7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18D5A-BEF5-4FEC-9435-0F5C02C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8FB52-2631-40A6-9003-A149830D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002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Модульное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25F42-7A44-4AA6-8FBA-4D7E04F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097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92 теста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64FE1-8D3D-4FDF-A846-4E95B4AD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Поиск, индексация, RAG, JWT, пароль, captcha, e-mail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A7DAE-5266-4229-B3F9-772CC558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7334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00BDF-BF8D-497E-8BFB-00E38BFF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FB28A-DBB2-484A-AAF8-A8671FA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F88F3-6D6F-4D14-BC90-7F6F33A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Интеграционное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251D1-EE8F-4B9F-BE96-07D22761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622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9 сценариев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547F2-4169-4DFB-BF47-2D3189E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HTTPS, Caddy, auth, search, SMTP, Redis, PostgreSQL,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D9996-DDC3-475F-9CDE-1351AF76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7334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9F771-B564-4772-A0F4-FE5216C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E7912-9C62-4BC5-AC2B-76A35D09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809A1-AA8C-491F-8BF5-8BF82C2D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Нагрузочное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D8829-F2FA-481A-9575-6B690694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148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3 контура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E4D23-1094-4846-9C1D-000B638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24400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Публичный HTTP, поисковый SQL, прямой LLM smoke-тест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1A006-6617-4878-915F-F1A613AF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57550" cy="37719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81BE6-84C6-4342-8371-37B0E3E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Фактический объём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B7092-ADA6-433F-82EF-77C36D3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F3B2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EAF3B2"/>
                </a:solidFill>
                <a:latin typeface="Montserrat"/>
                <a:ea typeface="Montserrat"/>
                <a:cs typeface="Montserrat"/>
              </a:rPr>
              <a:t>2 447 508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E1199-4EFA-46AD-99CE-AD7403FD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955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строк поискового индекса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1F929-69C6-4B78-A7BB-A248CDAC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A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8239E-3026-4D18-93D6-EF26BBAA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65 источников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10 974 страницы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230 955 лемм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44 972 RAG-фрагмента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2AFBF-21F1-43FA-8F8A-F2004B3D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815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B2"/>
          </a:solidFill>
          <a:ln xmlns:a="http://schemas.openxmlformats.org/drawingml/2006/main" w="0">
            <a:solidFill>
              <a:srgbClr val="EAF3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0B700-0709-4389-8017-9232E5B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Production, чтение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18660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EF6763-E95E-40BC-8721-5B67884D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РЕЗУЛЬТАТ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B99E3-94F2-44D1-85A9-E3B3BE88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Модульные тесты: все сценарии прошли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ca35e1201440d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22D65-17FD-40A5-84FC-F86BCAF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D3C17-8A23-46E2-AD74-C98797A2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EBFC6-AA82-4174-98B5-AAE9564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AD046-E0A5-4703-8B8D-93B213D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ВСЕГО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1A7E5-7976-4F33-B5A2-B2FC2E2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92/92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2D9AA-F185-4521-BBE8-A6F233A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93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failures: 0, errors: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A87A5-4D7C-45CD-92B6-CE60006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26B25-C490-4CC1-AA9B-D7FD012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525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ПОКРЫТИЕ СТРОК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E0838-C668-4850-B2C7-C65309D2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E5A5A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CE5A5A"/>
                </a:solidFill>
                <a:latin typeface="Montserrat"/>
                <a:ea typeface="Montserrat"/>
                <a:cs typeface="Montserrat"/>
              </a:rPr>
              <a:t>20,7%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740F4-1032-4FE7-A0AB-82472C35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общая взвешенная оценка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6253A-5F0B-4974-A348-E0225AD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E835F-05C1-4474-9D3C-D809F46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525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САМЫЙ ВЫСОКИЙ МОДУЛЬ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1DC42-339D-48C6-89DF-750AB0C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55,9%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F3F9A-AD7D-4FDF-A399-588CC9B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193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authorization, line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BFF5A-B443-4E69-B416-3F4C620C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28750"/>
            <a:ext cx="300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41B02-9A31-4E24-9834-8420B8B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ВРЕМЯ ПРОГОНОВ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7D43D-9492-4FED-BB00-96BB3E12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49,6 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BB811-5DAE-43FD-A015-88E290E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сумма длительностей модулей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0B81D-187D-4F69-8477-49030461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Количество тестов по модулям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2D7F8-B479-49D8-A53E-103C810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51911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D4CDC-293D-44D7-8196-6AFF3C61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95925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F3BD1-48A3-4CD4-8C14-DC55B14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38" y="3958548"/>
            <a:ext cx="666750" cy="15373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FE34C-BF1E-4027-ADD1-8136CE17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838" y="3720423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56DED-95FF-436F-A377-4A1DA17C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72125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Search + LLM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9C231-E5E5-41E8-A15E-4C0523B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779783"/>
            <a:ext cx="666750" cy="1716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4C064-B0CE-4D09-AA0C-42414BDA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541658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43F43-2EF7-40A5-9E7D-86EF898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75" y="5572125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Authorization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AA621-0657-4E22-9750-CA6E0F3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88" y="5460172"/>
            <a:ext cx="666750" cy="3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E0BAA-3915-4BA7-A967-F223512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488" y="5222047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2A501C-4112-4CB1-9827-783F0BA6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5572125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E-mail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2F2D6-C1D6-4FF5-AA63-DC6A53A1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Покрытие строк по модулям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6A81C0-4CA9-4B2C-A391-D586E5BC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353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BE95E-D220-481D-80CD-180364AC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959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ADDBD-4B19-497F-9C22-D529BC90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37181"/>
            <a:ext cx="666750" cy="558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2369D6-0F5A-4DA5-B64C-80B5658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99056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18,2%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DDE33D-9F61-42FC-8AAC-7D8A6A7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72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Search + LLM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340CC1-F21C-44A5-B5E8-0AB03B9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79783"/>
            <a:ext cx="666750" cy="1716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9FBF58-F054-4963-9C2C-CBAF8B4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1658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55,9%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5E068-D3DF-4675-80D8-988B30A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72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Authorization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D94829-0ED7-4BDF-8A34-3EF4852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581058"/>
            <a:ext cx="666750" cy="914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93D994-5C21-4274-8B97-7C321D91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342933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29,8%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BEAB9C-E8DC-4A56-8AF9-3FAB368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72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E-mail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2039E0-51B0-4D03-85EB-E4F0742F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57900"/>
            <a:ext cx="647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F5F8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35152-5F39-4ACA-BBF4-70C90A51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Вывод: регрессии не обнаружены, покрытие необходимо увеличить</a:t>
            </a:r>
          </a:p>
        </p:txBody>
      </p:sp>
    </p:spTree>
    <p:extLst>
      <p:ext uri="{BB962C8B-B14F-4D97-AF65-F5344CB8AC3E}">
        <p14:creationId xmlns:p14="http://schemas.microsoft.com/office/powerpoint/2010/main" val="2120741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D852B9-80D0-420A-ACC5-7DE2454F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РЕЗУЛЬТАТ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1B46-35F8-4314-941B-0B2F822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Интеграционный контур production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3d7ecc4c842b5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E0FD8-1286-41DD-8FA9-4D9ECF7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8F40-FB3D-40CF-9174-83B325B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87DDB-32EE-4FD6-BA05-977158E3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F5F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A9305-FD30-4D95-B62D-58874E4C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9/9 проверок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1FAA-290B-4F28-BC0F-1E7DFD9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6207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E7EF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8162C-F357-4641-9020-09C9333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81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p95: 494,2 мс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4D89-6C4D-49CE-AAE5-B1496D9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620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F3EF7-EBF7-4B9D-81C2-CBF22CD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TLS 1.3, Let’s Encrypt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A329C-49CE-4E3E-8DC5-ADF98B8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21315-2441-42FF-A0C1-0D32A06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CADDY +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4D7E7-0566-49AF-9EB5-06D93D78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717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AF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9FBAF1"/>
                </a:solidFill>
                <a:latin typeface="Montserrat"/>
                <a:ea typeface="Montserrat"/>
                <a:cs typeface="Montserrat"/>
              </a:rPr>
              <a:t>единая точка входа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F69DC-1AF6-40EE-80A6-019A1C1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56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D468A-BFB8-49DC-A919-538CCE8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00475"/>
            <a:ext cx="45339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8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501F2-D6F5-4DC6-9FA1-AA8732D8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30CD3-BF73-41BF-B51C-F7E31AD8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6D035-2616-418E-90BD-51B698AC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поиск +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DCA94-498D-426F-A01B-3A66D03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00475"/>
            <a:ext cx="23050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8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56B08-19AC-4D05-9BA2-5623EE4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D5FDD-9D2B-4A73-9DAF-BEA1CA8A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AUTH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ED504-9C86-4D6C-B8BF-A3E4E82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JWT + captcha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76B0A-1278-45C0-903C-3FD97B63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00475"/>
            <a:ext cx="762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8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5AF48-FA55-4B56-AE67-3E5155A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4815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AA47C-3D9C-423A-B076-0520908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POSTGRESQL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BBBEF-D227-40B4-BD86-95B9351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15982-8FE1-42B0-AB36-4A82058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215265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8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1DECE-7917-4053-B4BD-8FEED1C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2AD9C-6F2B-4D21-9D98-5465B908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66853-9B57-44BF-BA0A-3D846D4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43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PONG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AAB69-4D25-4A5D-9E6C-C551812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43815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8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72DEF-5D34-41F4-B505-7A245A8A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4815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A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0783A-4CED-42A5-AD63-767E738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81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E-MAIL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8D0C4-0702-415B-95DF-E85F6FAC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43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SMTP 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516AA3-C473-4733-B250-66F63DC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896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EAF3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3E487-D0B1-425D-94FD-7A6AABD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Подтверждено: главная страница, privacy, login, captcha, редиректы Security, TLS, SMTP, Redis и OpenAI-совместимый LLM endpoint.</a:t>
            </a:r>
          </a:p>
        </p:txBody>
      </p:sp>
    </p:spTree>
    <p:extLst>
      <p:ext uri="{BB962C8B-B14F-4D97-AF65-F5344CB8AC3E}">
        <p14:creationId xmlns:p14="http://schemas.microsoft.com/office/powerpoint/2010/main" val="2102878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4936D-F188-4441-A804-1516AC6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РЕЗУЛЬТАТ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30450-1D61-4756-8F71-E46E34EB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HTTP-нагрузка: рост до 119,43 RPS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992b555b2487d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0B5C6-6075-4D98-A4B6-F696B6B7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74530-0EBC-4D9D-A9A9-FAF445A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37BA3-FE1E-4A47-B087-97FC6171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F1A0D-1975-443F-B7CC-3FAC2294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144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МАКСИМАЛЬНАЯ НАГРУЗКА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31468-1427-4A1C-92DC-B10E665A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20 потоков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D6510-C85D-445A-BBE3-0374D216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публичный HTTPS-контур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6B3F7-CAF7-4399-915C-C3C5E4AF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906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0F093-E84E-4062-8B54-2F993B0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144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ПРОПУСКНАЯ СПОСОБНОСТЬ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21EF1-268F-4DAE-912B-5D3E3F39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119,43 RPS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E0DF6-2ACF-4E4D-A411-23056D8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81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при 20 параллельных запросах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06E40-72DC-4898-81FD-9FD7FCA5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D65FD-B8EF-4216-91CB-7A9208DF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144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P95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69925-A56E-4E18-955F-48D47FF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268,45 мс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35285-5742-4E61-B30D-050C702E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порог 2 000 мс выполнен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98D01-16CF-458F-99EF-708917EC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90650"/>
            <a:ext cx="2724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2830F-C394-49C1-A47D-EB2D6B5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14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ОШИБКИ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3406F-F470-4B77-9103-A793E881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646E9-BDB6-45F3-A2BD-583107F5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812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3 210 запросов суммарно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84783-F5CA-4A93-8BCC-3F7B0CC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Пропускная способность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B8E3-BC6B-4B6E-8B4D-C6DA52AE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5191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48B82-50D7-4B23-9B88-49C4E1B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570D1-9DCA-4357-9F05-C7A6754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29" y="5348883"/>
            <a:ext cx="617887" cy="80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9AB2A-A860-49D5-9612-53FB985E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29" y="5110758"/>
            <a:ext cx="9988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5,73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E2B63-951A-4070-8E53-AC706BBB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11882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1640E-C1EC-4122-9257-78B8127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972" y="5038775"/>
            <a:ext cx="617887" cy="39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3B14A-D09A-4E22-AB40-DB233F3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72" y="4800650"/>
            <a:ext cx="9988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27,84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BB70D-49D2-4239-AABC-A17184A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794" y="5505450"/>
            <a:ext cx="11882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776D9-B4EC-4881-AF21-61FE521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216" y="4597107"/>
            <a:ext cx="617887" cy="8321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7171E-428C-4A1A-B022-FFD51225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716" y="4358982"/>
            <a:ext cx="9988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59,33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C8A9D-691F-4EC1-A9C0-9D04E2D8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5505450"/>
            <a:ext cx="11882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15198-333F-4C6C-B2FE-A9301D94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460" y="3754164"/>
            <a:ext cx="617887" cy="1675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16116-A5D1-4431-B2EE-3A74137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960" y="3516039"/>
            <a:ext cx="9988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119,43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74E592-BC5F-4CF6-8698-0CAC8923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281" y="5505450"/>
            <a:ext cx="11882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4748E-D638-427E-A38F-40292D2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Задержка p95, мс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667BD0-03B5-4E08-82A4-B80BAB2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5353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1956B1-433C-441D-96F8-556B03C6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292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79F92-3E6C-41FC-BEEE-DFBB9C0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994" y="3845437"/>
            <a:ext cx="638937" cy="158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A3B804-BBCC-4FC1-A259-A98A0B9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494" y="3607312"/>
            <a:ext cx="101993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385,05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58C230-1D3D-4ABD-93DF-6FC4FF76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054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C26283-6033-4BEF-B022-8D2456C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719" y="3754164"/>
            <a:ext cx="638937" cy="1675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1C710-E73B-42E1-8D1A-9D9CFE43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219" y="3516039"/>
            <a:ext cx="101993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407,24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3B051E-051A-4E58-AC0D-1B62C71F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5054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C62CF5-04BD-437E-B2EA-482105D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444" y="4248784"/>
            <a:ext cx="638937" cy="11804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7E81C6-5FED-4B76-829F-932D732D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944" y="4010659"/>
            <a:ext cx="101993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286,99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B3CDE1-5C37-4120-8ABC-CE47FF9C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894CAB-1F80-45AA-BE3C-D342AD77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169" y="4325044"/>
            <a:ext cx="638937" cy="1104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AF1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CD1168-7290-4335-BAB9-987188B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669" y="4086919"/>
            <a:ext cx="101993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268,45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EC65EC-2D08-4A15-A767-CB0D801C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5054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47C7D4-4568-4BBF-8C06-3D4B783A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Подпись оси X: число параллельных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1737274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77216-51E7-49A1-8BBC-43264FD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РЕЗУЛЬТАТ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C559E-A7DD-400C-A3DA-3897105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Поисковый SQL: 85,89 TPS на production-данных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9dc3820874fd3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FC98F-F308-40DE-B787-1DEB33D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86B5B-A2F8-480A-82BC-C72DE70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F7543-20A4-43E9-B74A-D3AC05F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89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9FBA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E8342-549D-4A85-A09D-2506194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Read-only SELECT по поисковому индексу. Проверка выполнена на 2,45 млн строк без изменения пользовательских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C8FE-D616-4E79-94A4-14D022AB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Транзакции в секунду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9FE5B-C662-454A-BDF3-5B711BD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51911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22E1B-0D80-459C-8CC5-65461B5F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F1B20-A089-400D-936B-7B0D111C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38" y="4647507"/>
            <a:ext cx="666750" cy="419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97632-E454-468F-9FA9-B591083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838" y="4409382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20,811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72505-B383-451A-A4BB-B1CF143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 клиент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DEE73-1D91-496A-86E0-88F09CF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464177"/>
            <a:ext cx="666750" cy="16031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EF391-1E5C-4059-BB78-35938D6E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226052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79,474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B3892-6483-49B7-812B-D99160A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75" y="5143500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5 клиентов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20AB1-BFA0-404B-8D95-7776BAA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88" y="3334735"/>
            <a:ext cx="666750" cy="1732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5EEE4-5893-495C-829F-A7FCC2DD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488" y="309661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85,891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4BE9B-4D65-4817-ACF3-CAAD8C60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5143500"/>
            <a:ext cx="158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10 клиентов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AA14E-341B-4205-A5FD-CC1069D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Средняя задержка, мс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A1FFF-835C-4E34-868F-858DF94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5353050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66835-C94D-4425-AF41-4A55E73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9AD9B-CF21-4F2E-8D83-9F6B7AB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52247"/>
            <a:ext cx="666750" cy="715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55E28-25A5-4B7A-9916-67498E33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122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48,051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D0D33-185E-45D4-A5D4-A4891D85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 клиент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91D42-189F-4304-B379-221B4B7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31084"/>
            <a:ext cx="666750" cy="936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F0712-76AB-4D90-B53E-BBC2646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92959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62,913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98EA2-3260-4620-8456-B7635BA0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5 клиентов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D3F54A-84C2-4671-8EB4-237CA67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34735"/>
            <a:ext cx="666750" cy="1732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AE62D-7FC0-4566-A9A2-05C38B3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9661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116,427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A2DA5D-7A87-4CD7-ADD9-0BED9886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750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10 клиентов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53460-1FA8-4A6A-BAC0-B715534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F5F8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C82D43-F438-40D0-B3C8-279AA8D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0 неуспешных транзакций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DAA6E2-F28F-4FD1-8A8F-C615D5B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81675"/>
            <a:ext cx="806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Ограничение: это нагрузка уровня БД, полный авторизованный RAG-сценарий требует staging-контура.</a:t>
            </a:r>
          </a:p>
        </p:txBody>
      </p:sp>
    </p:spTree>
    <p:extLst>
      <p:ext uri="{BB962C8B-B14F-4D97-AF65-F5344CB8AC3E}">
        <p14:creationId xmlns:p14="http://schemas.microsoft.com/office/powerpoint/2010/main" val="176527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C4F10-89B6-4081-8747-0D920037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РЕЗУЛЬТАТ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876D8-402E-417A-B6E9-91D0612D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LLM отвечает, но остаётся главным узким местом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7e71fc76646c2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0A195-E364-499D-9C3B-D93942C1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F34B-7754-49EE-B6FE-4659B82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086F1-ED64-4FE4-B81E-C6481E28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28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1BBC-D944-450F-81D9-AFBA6DD8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ОТВЕТ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456F-D498-446D-9AD1-1F45EB05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HTTP 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98F9E-FE96-4A9B-AED5-E54A16B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1932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OpenAI-совместимый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70786-7A4F-47D6-822A-A439DA1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428750"/>
            <a:ext cx="2428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AA93A-7B4F-491D-9692-3E33956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525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4743F-3994-4A99-8DBF-953FF009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907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Qwen3 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3FBE0-EA40-482A-8E6E-0BF08E9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1932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локальный 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0D2C6-3EB8-4E21-9506-14C509F1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2428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9C4BF-81DC-4C88-8628-E5EBA21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ТОКЕНЫ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4A618-AAB5-40F4-8B1E-57B69F7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70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C59F8-B51D-490E-A010-88D0D45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1932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39 вход, 31 выход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2C15D-BE3D-474A-AFA4-17C231C1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28750"/>
            <a:ext cx="31527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2D96F-D6D5-4C15-B3EE-87A1E316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52575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ПОЛНОЕ ВРЕМЯ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D81D9-DD89-4DB8-9ECC-4C4A69FE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90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E5A5A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CE5A5A"/>
                </a:solidFill>
                <a:latin typeface="Montserrat"/>
                <a:ea typeface="Montserrat"/>
                <a:cs typeface="Montserrat"/>
              </a:rPr>
              <a:t>10,48 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A1AB4-3F01-4A85-8925-85F0420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19325"/>
            <a:ext cx="280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короткий ответ, цель TTFT &lt; 5 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590F2-0DB4-45CE-8D37-FD7A3BB2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858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3880C-DCB0-473F-B921-AD0AA6E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AF1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9FBAF1"/>
                </a:solidFill>
                <a:latin typeface="Montserrat"/>
                <a:ea typeface="Montserrat"/>
                <a:cs typeface="Montserrat"/>
              </a:rPr>
              <a:t>Фактический ответ модели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70F61-9318-4595-BD49-A6CA37AD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«Для того чтобы улучшить точность и актуальность ответов на запросы, используя внешние данные и контекст.»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68E85-D303-4282-A228-2140EEB1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AF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9FBAF1"/>
                </a:solidFill>
                <a:latin typeface="Montserrat"/>
                <a:ea typeface="Montserrat"/>
                <a:cs typeface="Montserrat"/>
              </a:rPr>
              <a:t>Smoke-тест подтверждает доступность генерации и корректный JSON-ответ.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1AFAA-1004-4669-ABDF-6D9351F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37338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EAF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A4131-BEEA-4499-87CD-17C37CAE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Что оптимизировать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783A1-BB90-4C0F-A8D2-BC5EC49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1. Streaming и ранний first token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6BCFE-6009-4984-B3EE-BE4EFD9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14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2. Кэширование повторных запросов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E94104-B7A5-465A-A4C7-93BC36C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3. Ограничение и rerank контекста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7AFC0-4EE2-423C-BA15-DBE2C14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4. Батчинг embedding-запросов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8670E-DA0A-4190-A1E1-7F3F78B4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9750"/>
            <a:ext cx="7477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E7EFF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AEB35-B3EB-4F5B-A65F-FA04062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728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Вывод: работоспособно, не готово к массовой LLM-нагрузке</a:t>
            </a:r>
          </a:p>
        </p:txBody>
      </p:sp>
    </p:spTree>
    <p:extLst>
      <p:ext uri="{BB962C8B-B14F-4D97-AF65-F5344CB8AC3E}">
        <p14:creationId xmlns:p14="http://schemas.microsoft.com/office/powerpoint/2010/main" val="879391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8F518E-2674-442D-9D5D-E84C38D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05BE-FCA3-4E5E-9099-C8EB3C2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Итог и пакет доказательств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456da3ab34627"/>
          <a:stretch xmlns:a="http://schemas.openxmlformats.org/drawingml/2006/main"/>
        </p:blipFill>
        <p:spPr>
          <a:xfrm xmlns:a="http://schemas.openxmlformats.org/drawingml/2006/main">
            <a:off x="10687050" y="193784"/>
            <a:ext cx="857250" cy="6601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C9FFB-F3FD-4EB0-BEC8-E7E5723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CFF88-CF46-46F8-802F-9FDE759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5708A"/>
                </a:solidFill>
                <a:latin typeface="Montserrat"/>
                <a:ea typeface="Montserrat"/>
                <a:cs typeface="Montserrat"/>
              </a:rPr>
              <a:t>07.09.2026  •  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C828F-B2BC-4130-A13F-68C0C610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2006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5F8D9"/>
          </a:solidFill>
          <a:ln xmlns:a="http://schemas.openxmlformats.org/drawingml/2006/main" w="0">
            <a:solidFill>
              <a:srgbClr val="EAF3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FD2C6-4719-49BA-BAAC-3C84A66D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973B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73973B"/>
                </a:solidFill>
                <a:latin typeface="Montserrat"/>
                <a:ea typeface="Montserrat"/>
                <a:cs typeface="Montserrat"/>
              </a:rPr>
              <a:t>Подтверждено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95CAF-2623-4BC9-94E4-5CE71DD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1E5DC-285D-4E82-895D-9607D55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77DA9-2FD5-463E-9E36-58458C81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92/92 модульных теста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ED2B2-DB71-4555-8C2A-6130FCD9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4C7B5-8CC0-4190-9FB1-B54A7E8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76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CDC20-9FBF-4ED5-8848-8A32CA6E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7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9/9 production-интеграций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EA103-6971-4D50-A6B7-6BD7F96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6178E-4AE2-467D-B591-3AD3B1F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15E97-9DE8-4568-AB0B-1EADF53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0 ошибок HTTP и SQL нагрузки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15C77-66FD-4C26-A4E7-A4EAC4D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5C984-B830-4A76-8774-F15778F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BAE60-1D05-4AF2-B8FB-875C69E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TLS, SMTP, Redis, PostgreSQL работают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FD5CA-EBD0-492D-BF06-DE3C9C44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3973B"/>
          </a:solidFill>
          <a:ln xmlns:a="http://schemas.openxmlformats.org/drawingml/2006/main" w="0">
            <a:solidFill>
              <a:srgbClr val="739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9898-9946-48A7-A4EB-DCA0965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43563-814E-4FD0-857B-34402DD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005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LLM endpoint отвечает HTTP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B68F4-EF61-4D80-B08A-C19FD7E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09700"/>
            <a:ext cx="5467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6841B-384C-4050-8DA8-DA4F7FB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287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E5A5A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CE5A5A"/>
                </a:solidFill>
                <a:latin typeface="Montserrat"/>
                <a:ea typeface="Montserrat"/>
                <a:cs typeface="Montserrat"/>
              </a:rPr>
              <a:t>До массовой эксплуатации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6B8DE-1FA9-4FA0-99DA-4512009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CF8FB-C106-479F-AF44-DF7607B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21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CB563-634C-478B-8838-6A28C316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05025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Поднять покрытие критических сервисов до 60%+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F682C-2B22-4D18-8E91-4F594FE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3367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8ED1B-AA97-4591-83E8-D780A6C5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EC42B-916B-4600-A909-A5DD4FD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5575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Создать staging для полного E2E и RAG load-теста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CE69F-FE3D-4E82-90C0-EB8253DE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CEDCD-E14D-4591-BB1C-76243904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432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FC338-7C76-4C72-A303-E9351B6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Снизить LLM latency и TTFT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77943-2ABF-4F83-811E-3BA3680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4775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5EA30-E453-46B9-8314-3E417D0D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445EC0-B8E2-456D-9059-12749481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76675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7223B"/>
                </a:solidFill>
                <a:latin typeface="Montserrat"/>
                <a:ea typeface="Montserrat"/>
                <a:cs typeface="Montserrat"/>
              </a:rPr>
              <a:t>Добавить мониторинг p95, ошибок и очередей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19D1C-676E-4738-A826-446F89E6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48200"/>
            <a:ext cx="3067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E7EFF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AD06B1-4388-4849-9283-EF464F8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67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3D568F"/>
                </a:solidFill>
                <a:latin typeface="Montserrat"/>
                <a:ea typeface="Montserrat"/>
                <a:cs typeface="Montserrat"/>
              </a:rPr>
              <a:t>Условно готово к пилотной эксплуатации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9A9D6B-2601-4993-922D-3FE379D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D568F"/>
          </a:solidFill>
          <a:ln xmlns:a="http://schemas.openxmlformats.org/drawingml/2006/main" w="0">
            <a:solidFill>
              <a:srgbClr val="3D568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919882-2EBE-4762-96C5-B50FD13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054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Доказательства: report.html  •  summary.json  •  JUnit XML  •  JaCoCo  •  pgbench  •  графики SVG  •  эта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51653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2026-09-07T18:29:18.7100000Z</dcterms:created>
  <dcterms:modified xsi:type="dcterms:W3CDTF">2026-09-07T18:29:18.7100000Z</dcterms:modified>
</coreProperties>
</file>